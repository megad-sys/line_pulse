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A5FA"/>
                </a:solidFill>
                <a:latin typeface="Calibri"/>
              </a:rPr>
              <a:t>REAL-TIME FACTORY EXECUTION · AI-POWERED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59536"/>
            <a:ext cx="1067104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Line 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929384"/>
            <a:ext cx="77724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i="0">
                <a:solidFill>
                  <a:srgbClr val="CCCCBB"/>
                </a:solidFill>
                <a:latin typeface="Calibri"/>
              </a:rPr>
              <a:t>We built a real-time factory execution system for semi-manual production lines.
On top of live production data, we built an AI assistant that identifies bottlenecks
and routes issues to the right team — in real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5897880"/>
            <a:ext cx="1828800" cy="274320"/>
          </a:xfrm>
          <a:prstGeom prst="rect">
            <a:avLst/>
          </a:prstGeom>
          <a:solidFill>
            <a:srgbClr val="2C2B28"/>
          </a:solidFill>
          <a:ln w="6350">
            <a:solidFill>
              <a:srgbClr val="3E3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9481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BBB0"/>
                </a:solidFill>
                <a:latin typeface="Calibri"/>
              </a:rPr>
              <a:t>hello@linepulse.com</a:t>
            </a:r>
          </a:p>
        </p:txBody>
      </p:sp>
      <p:sp>
        <p:nvSpPr>
          <p:cNvPr id="9" name="Rectangle 8"/>
          <p:cNvSpPr/>
          <p:nvPr/>
        </p:nvSpPr>
        <p:spPr>
          <a:xfrm>
            <a:off x="2752344" y="5897880"/>
            <a:ext cx="1143000" cy="274320"/>
          </a:xfrm>
          <a:prstGeom prst="rect">
            <a:avLst/>
          </a:prstGeom>
          <a:solidFill>
            <a:srgbClr val="2C2B28"/>
          </a:solidFill>
          <a:ln w="6350">
            <a:solidFill>
              <a:srgbClr val="3E3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3784" y="5948172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BBB0"/>
                </a:solidFill>
                <a:latin typeface="Calibri"/>
              </a:rPr>
              <a:t>linepulse.com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59936" y="5897880"/>
            <a:ext cx="1143000" cy="274320"/>
          </a:xfrm>
          <a:prstGeom prst="rect">
            <a:avLst/>
          </a:prstGeom>
          <a:solidFill>
            <a:srgbClr val="2C2B28"/>
          </a:solidFill>
          <a:ln w="6350">
            <a:solidFill>
              <a:srgbClr val="3E3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51376" y="5948172"/>
            <a:ext cx="960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BBB0"/>
                </a:solidFill>
                <a:latin typeface="Calibri"/>
              </a:rPr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A3832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32104"/>
            <a:ext cx="8686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A1916"/>
                </a:solidFill>
                <a:latin typeface="Calibri"/>
              </a:rPr>
              <a:t>Most factory floors are still a black box.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700784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A9688"/>
                </a:solidFill>
                <a:latin typeface="Calibri"/>
              </a:rPr>
              <a:t>Between what ERP systems plan and what actually ships, there is an invisible gap — and it costs manufacturers billions.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295144"/>
            <a:ext cx="3435096" cy="2880360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59736"/>
            <a:ext cx="3105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📋  Paper &amp; Excel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843784"/>
            <a:ext cx="31059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555555"/>
                </a:solidFill>
                <a:latin typeface="Calibri"/>
              </a:rPr>
              <a:t>Managers walk the floor to find out where a part is. No one has real-time status on any station.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" y="3831336"/>
            <a:ext cx="41148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31336"/>
            <a:ext cx="29961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916"/>
                </a:solidFill>
                <a:latin typeface="Calibri"/>
              </a:rPr>
              <a:t>60–70%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233672"/>
            <a:ext cx="2996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9A9688"/>
                </a:solidFill>
                <a:latin typeface="Calibri"/>
              </a:rPr>
              <a:t>of European SME manufacturers rely on manual production tracking 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6928" y="2295144"/>
            <a:ext cx="3435096" cy="2880360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520" y="2459736"/>
            <a:ext cx="3105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⏱  Bottlenecks found too 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520" y="2843784"/>
            <a:ext cx="31059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555555"/>
                </a:solidFill>
                <a:latin typeface="Calibri"/>
              </a:rPr>
              <a:t>By the time a cycle time breach is visible, it has already cost hours and missed deadlines.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1520" y="3831336"/>
            <a:ext cx="41148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1248" y="3831336"/>
            <a:ext cx="29961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916"/>
                </a:solidFill>
                <a:latin typeface="Calibri"/>
              </a:rPr>
              <a:t>60–65%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1248" y="4233672"/>
            <a:ext cx="2996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9A9688"/>
                </a:solidFill>
                <a:latin typeface="Calibri"/>
              </a:rPr>
              <a:t>average OEE — world-class is 85%. The gap = millions in lost output per year 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4904" y="2295144"/>
            <a:ext cx="3435096" cy="2880360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9496" y="2459736"/>
            <a:ext cx="3105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💸  ERP is not the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9496" y="2843784"/>
            <a:ext cx="310591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555555"/>
                </a:solidFill>
                <a:latin typeface="Calibri"/>
              </a:rPr>
              <a:t>SAP and Oracle plan and record — but offer nothing between plan and execution. Floor still invisible.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9496" y="3831336"/>
            <a:ext cx="41148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9224" y="3831336"/>
            <a:ext cx="29961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916"/>
                </a:solidFill>
                <a:latin typeface="Calibri"/>
              </a:rPr>
              <a:t>$50B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9224" y="4233672"/>
            <a:ext cx="2996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9A9688"/>
                </a:solidFill>
                <a:latin typeface="Calibri"/>
              </a:rPr>
              <a:t>lost annually to unplanned downtime across the manufacturing industry 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6236208"/>
            <a:ext cx="10671048" cy="9144"/>
          </a:xfrm>
          <a:prstGeom prst="rect">
            <a:avLst/>
          </a:prstGeom>
          <a:solidFill>
            <a:srgbClr val="E5E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6291072"/>
            <a:ext cx="10671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A9688"/>
                </a:solidFill>
                <a:latin typeface="Calibri"/>
              </a:rPr>
              <a:t>① Manufacturing Leadership Council, Digital Operations Study, 2022  ·  ② LNS Research, MOM Benchmark; OEE Foundation  ·  ③ McKinsey &amp; Company, 'Industry 4.0: Closing the gap,' 2021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5E2DC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32104"/>
            <a:ext cx="9144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A1916"/>
                </a:solidFill>
                <a:latin typeface="Calibri"/>
              </a:rPr>
              <a:t>A large market with no affordable option for SMEs.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066544"/>
            <a:ext cx="2171700" cy="877824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76272"/>
            <a:ext cx="19888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563EB"/>
                </a:solidFill>
                <a:latin typeface="Calibri"/>
              </a:rPr>
              <a:t>$14.8B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633472"/>
            <a:ext cx="19888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A9688"/>
                </a:solidFill>
                <a:latin typeface="Calibri"/>
              </a:rPr>
              <a:t>MES MARKET (2023)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7812" y="2066544"/>
            <a:ext cx="2171700" cy="877824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9252" y="2176272"/>
            <a:ext cx="19888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563EB"/>
                </a:solidFill>
                <a:latin typeface="Calibri"/>
              </a:rPr>
              <a:t>$26.6B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9252" y="2633472"/>
            <a:ext cx="19888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A9688"/>
                </a:solidFill>
                <a:latin typeface="Calibri"/>
              </a:rPr>
              <a:t>MES MARKET (2028)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3081528"/>
            <a:ext cx="2171700" cy="877824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91256"/>
            <a:ext cx="19888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563EB"/>
                </a:solidFill>
                <a:latin typeface="Calibri"/>
              </a:rPr>
              <a:t>12.5%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648456"/>
            <a:ext cx="19888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A9688"/>
                </a:solidFill>
                <a:latin typeface="Calibri"/>
              </a:rPr>
              <a:t>CAGR 2023–2028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7812" y="3081528"/>
            <a:ext cx="2171700" cy="877824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9252" y="3191256"/>
            <a:ext cx="19888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563EB"/>
                </a:solidFill>
                <a:latin typeface="Calibri"/>
              </a:rPr>
              <a:t>30M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9252" y="3648456"/>
            <a:ext cx="19888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A9688"/>
                </a:solidFill>
                <a:latin typeface="Calibri"/>
              </a:rPr>
              <a:t>EU MANUFACTURING JOBS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032504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9A9688"/>
                </a:solidFill>
                <a:latin typeface="Calibri"/>
              </a:rPr>
              <a:t>④ MarketsandMarkets, 'MES Market – Global Forecast to 2028,' 2023  ·  ⑤ Eurostat, 'Key figures on European business,' 2022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50992" y="2066544"/>
            <a:ext cx="5779008" cy="1115568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97296" y="215798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TAM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6832" y="2157984"/>
            <a:ext cx="1234440" cy="256032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2552" y="2176272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563EB"/>
                </a:solidFill>
                <a:latin typeface="Calibri"/>
              </a:rPr>
              <a:t>Global 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2478024"/>
            <a:ext cx="5486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55555"/>
                </a:solidFill>
                <a:latin typeface="Calibri"/>
              </a:rPr>
              <a:t>$26.6B by 2028 — manufacturing execution &amp; real-time production intelligence globally 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50992" y="3310128"/>
            <a:ext cx="5779008" cy="1344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97296" y="340156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SAM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2" y="3401568"/>
            <a:ext cx="1783080" cy="256032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2552" y="3419856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563EB"/>
                </a:solidFill>
                <a:latin typeface="Calibri"/>
              </a:rPr>
              <a:t>EU SME Manufacturing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7296" y="3721608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55555"/>
                </a:solidFill>
                <a:latin typeface="Calibri"/>
              </a:rPr>
              <a:t>17% of EU GDP, 30M workers. DACH region: 200,000+ manufacturing companies, majority SMEs currently underserved by enterprise MES 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50992" y="4782312"/>
            <a:ext cx="5779008" cy="1115568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97296" y="487375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SOM — Beachhead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2" y="4873752"/>
            <a:ext cx="1143000" cy="256032"/>
          </a:xfrm>
          <a:prstGeom prst="rect">
            <a:avLst/>
          </a:prstGeom>
          <a:solidFill>
            <a:srgbClr val="1A1916"/>
          </a:solidFill>
          <a:ln w="9525">
            <a:solidFill>
              <a:srgbClr val="1A19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74152" y="4892040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Target now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5193792"/>
            <a:ext cx="5486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555555"/>
                </a:solidFill>
                <a:latin typeface="Calibri"/>
              </a:rPr>
              <a:t>50,000+ semi-manual SME production sites in DACH, 10–250 employees, no MES, tracking on paper/Excel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" y="5833872"/>
            <a:ext cx="10671048" cy="475488"/>
          </a:xfrm>
          <a:prstGeom prst="rect">
            <a:avLst/>
          </a:prstGeom>
          <a:solidFill>
            <a:srgbClr val="FFFBEB"/>
          </a:solidFill>
          <a:ln w="63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5897880"/>
            <a:ext cx="10396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92400E"/>
                </a:solidFill>
                <a:latin typeface="Calibri"/>
              </a:rPr>
              <a:t>The gap:  Enterprise MES systems (SAP ME, Siemens Opcenter) cost €200K–2M to implement and require 6–18 months and a consultant. SMEs under 250 employees have no viable option. Line Pulse is built for them.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5E2DC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32104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A1916"/>
                </a:solidFill>
                <a:latin typeface="Calibri"/>
              </a:rPr>
              <a:t>An AI engineer watching your floor, 24 hours a 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76272"/>
            <a:ext cx="50292" cy="1143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681728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 i="0">
                <a:solidFill>
                  <a:srgbClr val="1A1916"/>
                </a:solidFill>
                <a:latin typeface="Calibri"/>
              </a:rPr>
              <a:t>"Real-time factory execution for semi-manual lines — with an AI that spots bottlenecks and routes issues to the right person, instantly."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3438144"/>
            <a:ext cx="16860873568" cy="246888"/>
          </a:xfrm>
          <a:prstGeom prst="rect">
            <a:avLst/>
          </a:prstGeom>
          <a:solidFill>
            <a:srgbClr val="1A1916"/>
          </a:solidFill>
          <a:ln w="6350">
            <a:solidFill>
              <a:srgbClr val="1A19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470148"/>
            <a:ext cx="168606906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No hardware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861742248" y="3438144"/>
            <a:ext cx="32188757568" cy="246888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61833688" y="3470148"/>
            <a:ext cx="321885746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Live in one afternoon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050609544" y="3438144"/>
            <a:ext cx="30655969168" cy="24688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050700984" y="3470148"/>
            <a:ext cx="30655786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No consultant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3785616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444444"/>
                </a:solidFill>
                <a:latin typeface="Calibri"/>
              </a:rPr>
              <a:t>Workers scan QR codes at stations on their phone — no app, no login. Every scan updates the dashboard live. AI analyses every 15 minutes and tells managers exactly what's wrong and what to 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859536"/>
            <a:ext cx="5367528" cy="1024128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133856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916"/>
                </a:solidFill>
                <a:latin typeface="Calibri"/>
              </a:rPr>
              <a:t>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950976"/>
            <a:ext cx="4590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Scan-based real-time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1271016"/>
            <a:ext cx="4590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Workers scan QR labels at each station. Status updates live. No app download or login required.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62472" y="1993392"/>
            <a:ext cx="5367528" cy="1024128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267712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916"/>
                </a:solidFill>
                <a:latin typeface="Calibri"/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832" y="2084832"/>
            <a:ext cx="4590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Manufacturing KPIs auto-calculated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832" y="2404872"/>
            <a:ext cx="4590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OEE, First Pass Yield, Cycle Time, DPMO, Throughput — from scan data, no manual input.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62472" y="3127248"/>
            <a:ext cx="5367528" cy="1024128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401568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916"/>
                </a:solidFill>
                <a:latin typeface="Calibri"/>
              </a:rPr>
              <a:t>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832" y="3218688"/>
            <a:ext cx="4590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AI insights every 15 minutes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38728"/>
            <a:ext cx="4590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Plain-language bottleneck detection, anomaly alerts, and recommendations specific to your floor.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62472" y="4261104"/>
            <a:ext cx="5367528" cy="1024128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4535424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1916"/>
                </a:solidFill>
                <a:latin typeface="Calibri"/>
              </a:rPr>
              <a:t>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352544"/>
            <a:ext cx="4590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Automatic escalation routing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2" y="4672584"/>
            <a:ext cx="45902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When a threshold is breached, the right person is notified. No dashboard-checking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5E2DC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32104"/>
            <a:ext cx="8229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A1916"/>
                </a:solidFill>
                <a:latin typeface="Calibri"/>
              </a:rPr>
              <a:t>Live in one afternoon. No IT project.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865376"/>
            <a:ext cx="402336" cy="402336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938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395728"/>
            <a:ext cx="253060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916"/>
                </a:solidFill>
                <a:latin typeface="Calibri"/>
              </a:rPr>
              <a:t>Set up your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98064"/>
            <a:ext cx="24848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444444"/>
                </a:solidFill>
                <a:latin typeface="Calibri"/>
              </a:rPr>
              <a:t>Add your production line, stations, and target cycle times. Takes 5 minutes. No installation.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6714" y="1865376"/>
            <a:ext cx="402336" cy="402336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192938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6714" y="2395728"/>
            <a:ext cx="253060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916"/>
                </a:solidFill>
                <a:latin typeface="Calibri"/>
              </a:rPr>
              <a:t>Print QR labels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6714" y="2798064"/>
            <a:ext cx="24848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444444"/>
                </a:solidFill>
                <a:latin typeface="Calibri"/>
              </a:rPr>
              <a:t>Create a batch of parts. QR labels print on any office printer. Stick them on the physical parts.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865376"/>
            <a:ext cx="402336" cy="402336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2764" y="192938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2395728"/>
            <a:ext cx="253060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916"/>
                </a:solidFill>
                <a:latin typeface="Calibri"/>
              </a:rPr>
              <a:t>Workers 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798064"/>
            <a:ext cx="24848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444444"/>
                </a:solidFill>
                <a:latin typeface="Calibri"/>
              </a:rPr>
              <a:t>At each station, workers scan the QR code with their phone browser. No login. No app. One tap.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2238" y="1865376"/>
            <a:ext cx="402336" cy="402336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80526" y="192938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2238" y="2395728"/>
            <a:ext cx="253060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1916"/>
                </a:solidFill>
                <a:latin typeface="Calibri"/>
              </a:rPr>
              <a:t>AI takes 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2238" y="2798064"/>
            <a:ext cx="248488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444444"/>
                </a:solidFill>
                <a:latin typeface="Calibri"/>
              </a:rPr>
              <a:t>Dashboard updates live. AI monitors every 15 minutes. Alerts sent when bottlenecks detected.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" y="5285232"/>
            <a:ext cx="10671048" cy="1417320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5449824"/>
            <a:ext cx="248488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0A5FA"/>
                </a:solidFill>
                <a:latin typeface="Calibri"/>
              </a:rPr>
              <a:t>OEE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61304"/>
            <a:ext cx="257632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77777"/>
                </a:solidFill>
                <a:latin typeface="Calibri"/>
              </a:rPr>
              <a:t>Overall Equip. Effectiveness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8154" y="5449824"/>
            <a:ext cx="248488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DE80"/>
                </a:solidFill>
                <a:latin typeface="Calibri"/>
              </a:rPr>
              <a:t>FPY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2434" y="5861304"/>
            <a:ext cx="257632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77777"/>
                </a:solidFill>
                <a:latin typeface="Calibri"/>
              </a:rPr>
              <a:t>First Pass Yield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5916" y="5449824"/>
            <a:ext cx="248488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BBF24"/>
                </a:solidFill>
                <a:latin typeface="Calibri"/>
              </a:rPr>
              <a:t>DPMO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40196" y="5861304"/>
            <a:ext cx="257632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77777"/>
                </a:solidFill>
                <a:latin typeface="Calibri"/>
              </a:rPr>
              <a:t>Defects Per Million Opps.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3678" y="5449824"/>
            <a:ext cx="248488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87171"/>
                </a:solidFill>
                <a:latin typeface="Calibri"/>
              </a:rPr>
              <a:t>Cycle 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7958" y="5861304"/>
            <a:ext cx="257632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77777"/>
                </a:solidFill>
                <a:latin typeface="Calibri"/>
              </a:rPr>
              <a:t>Per station vs. 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04872" y="6309360"/>
            <a:ext cx="73792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06060"/>
                </a:solidFill>
                <a:latin typeface="Calibri"/>
              </a:rPr>
              <a:t>All calculated automatically from scan data — zero manual input from production managers.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5E2DC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32104"/>
            <a:ext cx="8686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A1916"/>
                </a:solidFill>
                <a:latin typeface="Calibri"/>
              </a:rPr>
              <a:t>Full-stack factory execution in one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865376"/>
            <a:ext cx="3435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A9688"/>
                </a:solidFill>
                <a:latin typeface="Calibri"/>
              </a:rPr>
              <a:t>FLOOR VISIBILITY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13969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12140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2121408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Live station status per production 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455164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36876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2436876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Part-level tracking (WIP, done, rework, failed)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2770632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752344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2752344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Cycle time vs. target per station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3086100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067812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" y="3067812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Bottleneck flag with BOTTLENECK badge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" y="3401568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383280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3383280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Shift-aware (morning / afternoon / night)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" y="371703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69874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" y="3698748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Planned vs. produced 7-day chart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6928" y="1865376"/>
            <a:ext cx="3435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A9688"/>
                </a:solidFill>
                <a:latin typeface="Calibri"/>
              </a:rPr>
              <a:t>AI &amp; ALERTING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6928" y="213969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04360" y="212140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2960" y="2121408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AI insights panel — 3–5 insights every 15 min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6928" y="2455164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04360" y="2436876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2960" y="2436876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Plain-language analysis (Groq / Llama 3.3-70B)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76928" y="2770632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4360" y="2752344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2960" y="2752344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Chat with AI: ask anything about your floor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6928" y="3086100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04360" y="3067812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2960" y="3067812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Auto-escalations: QC failures, cycle breaches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6928" y="3401568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04360" y="3383280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32960" y="3383280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Escalation routing to correct role / person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76928" y="371703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04360" y="369874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2960" y="3698748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In-app toast notifications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94904" y="1865376"/>
            <a:ext cx="3435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A9688"/>
                </a:solidFill>
                <a:latin typeface="Calibri"/>
              </a:rPr>
              <a:t>OPERATIONS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94904" y="213969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2336" y="212140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50936" y="2121408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Batch creation + QR label print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94904" y="2455164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2336" y="2436876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0936" y="2436876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Work order management (priority, status, qty)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94904" y="2770632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22336" y="2752344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50936" y="2752344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NCR (non-conformance report) tracking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94904" y="3086100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2336" y="3067812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50936" y="3067812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Manufacturing KPIs: OEE, FPY, DPMO, scrap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94904" y="3401568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22336" y="3383280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50936" y="3383280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CSV export on all tables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94904" y="371703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2336" y="369874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50936" y="3698748"/>
            <a:ext cx="31790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Multi-tenant SaaS (Supabase RLS)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8952" y="4105656"/>
            <a:ext cx="10671048" cy="10972"/>
          </a:xfrm>
          <a:prstGeom prst="rect">
            <a:avLst/>
          </a:prstGeom>
          <a:solidFill>
            <a:srgbClr val="E5E2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8952" y="4270248"/>
            <a:ext cx="1042408" cy="24688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392" y="4302252"/>
            <a:ext cx="8595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Next.js 14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92800" y="4270248"/>
            <a:ext cx="790036" cy="24688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984240" y="4302252"/>
            <a:ext cx="6071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FastAPI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74276" y="4270248"/>
            <a:ext cx="1799524" cy="24688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65716" y="4302252"/>
            <a:ext cx="16166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Supabase PostgreSQL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665240" y="4270248"/>
            <a:ext cx="1883648" cy="24688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6680" y="4302252"/>
            <a:ext cx="1700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Groq / Llama 3.3-70B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40328" y="4270248"/>
            <a:ext cx="705912" cy="246888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31768" y="4302252"/>
            <a:ext cx="523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Vercel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37680" y="4270248"/>
            <a:ext cx="1547152" cy="246888"/>
          </a:xfrm>
          <a:prstGeom prst="rect">
            <a:avLst/>
          </a:prstGeom>
          <a:solidFill>
            <a:srgbClr val="1A1916"/>
          </a:solidFill>
          <a:ln w="6350">
            <a:solidFill>
              <a:srgbClr val="1A19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29120" y="4302252"/>
            <a:ext cx="1364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Multi-tenant RLS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076272" y="4270248"/>
            <a:ext cx="1378904" cy="246888"/>
          </a:xfrm>
          <a:prstGeom prst="rect">
            <a:avLst/>
          </a:prstGeom>
          <a:solidFill>
            <a:srgbClr val="1A1916"/>
          </a:solidFill>
          <a:ln w="6350">
            <a:solidFill>
              <a:srgbClr val="1A19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67712" y="4302252"/>
            <a:ext cx="11960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15-min AI cron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8952" y="4590288"/>
            <a:ext cx="1883648" cy="246888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50392" y="4622292"/>
            <a:ext cx="1700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No hardware required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5E2DC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TRACTION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32104"/>
            <a:ext cx="8229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A1916"/>
                </a:solidFill>
                <a:latin typeface="Calibri"/>
              </a:rPr>
              <a:t>Working MVP. Ready for first pilots.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865376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9688"/>
                </a:solidFill>
                <a:latin typeface="Calibri"/>
              </a:rPr>
              <a:t>What's built  ✓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176272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157984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2157984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End-to-end QR scan → live tracking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478024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59736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2459736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Multi-tenant SaaS architecture deployed on Vercel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277977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76148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2761488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AI insights engine (15-min cron, Groq LLM)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3081528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063240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" y="3063240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Automatic escalation routing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" y="3383280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364992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3364992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Full manufacturing KPI suite (OEE, FPY, DPMO)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" y="3685032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666744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" y="3666744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Work order management + NCR tracking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3986784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968496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" y="3968496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Batch creation + QR label printing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" y="428853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427024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" y="4270248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Dark/light mode, CSV export, responsive UI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" y="4590288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572000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" y="4572000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Working demo environment with realistic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1865376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A9688"/>
                </a:solidFill>
                <a:latin typeface="Calibri"/>
              </a:rPr>
              <a:t>Next 90 days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2157984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A9688"/>
                </a:solidFill>
                <a:latin typeface="Calibri"/>
              </a:rPr>
              <a:t>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6248" y="2157984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3 paying pilot customers signed (DACH)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2459736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A9688"/>
                </a:solidFill>
                <a:latin typeface="Calibri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56248" y="2459736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First real production line live on platform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276148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A9688"/>
                </a:solidFill>
                <a:latin typeface="Calibri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6248" y="2761488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SAP / ERP integration module scoped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7648" y="3063240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A9688"/>
                </a:solidFill>
                <a:latin typeface="Calibri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3063240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Technical co-founder hired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7648" y="3364992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A9688"/>
                </a:solidFill>
                <a:latin typeface="Calibri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56248" y="3364992"/>
            <a:ext cx="4873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Hannover Messe / SPS presence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0216" y="3849624"/>
            <a:ext cx="5129784" cy="1143000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3941064"/>
            <a:ext cx="48371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1E40AF"/>
                </a:solidFill>
                <a:latin typeface="Calibri"/>
              </a:rPr>
              <a:t>"We walk the floor twice a shift just to know where parts are. If this worked, it would save us hours."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709160"/>
            <a:ext cx="483717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B82F6"/>
                </a:solidFill>
                <a:latin typeface="Calibri"/>
              </a:rPr>
              <a:t>— Production manager, electronics assembler, DACH region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5E2DC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32104"/>
            <a:ext cx="8229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A1916"/>
                </a:solidFill>
                <a:latin typeface="Calibri"/>
              </a:rPr>
              <a:t>SaaS. Per production line. Low churn.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865376"/>
            <a:ext cx="3435096" cy="4069080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29968"/>
            <a:ext cx="3032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77777"/>
                </a:solidFill>
                <a:latin typeface="Calibri"/>
              </a:rPr>
              <a:t>PRICING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67712"/>
            <a:ext cx="303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€150–400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98064"/>
            <a:ext cx="3032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77777"/>
                </a:solidFill>
                <a:latin typeface="Calibri"/>
              </a:rPr>
              <a:t>per production line / month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127248"/>
            <a:ext cx="3032760" cy="1097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3032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09090"/>
                </a:solidFill>
                <a:latin typeface="Calibri"/>
              </a:rPr>
              <a:t>SME with 3 lines → €450–1,200 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557016"/>
            <a:ext cx="3032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77777"/>
                </a:solidFill>
                <a:latin typeface="Calibri"/>
              </a:rPr>
              <a:t>Land &amp; expand: start with 1 line pilot, grow to full plant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6928" y="1865376"/>
            <a:ext cx="3435096" cy="4069080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1520" y="2002536"/>
            <a:ext cx="3105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563EB"/>
                </a:solidFill>
                <a:latin typeface="Calibri"/>
              </a:rPr>
              <a:t>GO-TO-MARKET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8368" y="2267712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5800" y="2249424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400" y="2249424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Free 30-day pilot — no contract, no hardware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68368" y="2615184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5800" y="2596896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4400" y="2596896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Direct outbound to production managers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8368" y="296265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5800" y="294436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4400" y="2944368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Book demo via Calendly (active)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8368" y="3310128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95800" y="3291840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4400" y="3291840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DACH focus (Germany, Austria, Switzerland)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8368" y="3657600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5800" y="3639312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4400" y="3639312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Trade shows: Hannover Messe, SPS Nuremberg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4904" y="1865376"/>
            <a:ext cx="3435096" cy="4069080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9496" y="2002536"/>
            <a:ext cx="3105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563EB"/>
                </a:solidFill>
                <a:latin typeface="Calibri"/>
              </a:rPr>
              <a:t>WHY IT'S STICKY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6344" y="2267712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3776" y="2249424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2376" y="2249424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Daily critical workflow — not nice-to-have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86344" y="2615184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3776" y="2596896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2376" y="2596896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Historical scan data creates lock-in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86344" y="2962656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13776" y="2944368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2376" y="2944368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Workers adopt fast (phone scan, no training)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86344" y="3310128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13776" y="3291840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42376" y="3291840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KPIs replace manual spreadsheet reports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86344" y="3657600"/>
            <a:ext cx="201168" cy="2011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3776" y="3639312"/>
            <a:ext cx="182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2376" y="3639312"/>
            <a:ext cx="29961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ERP integration planned as premium upsell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59496" y="4169664"/>
            <a:ext cx="41148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69224" y="4169664"/>
            <a:ext cx="29961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1916"/>
                </a:solidFill>
                <a:latin typeface="Calibri"/>
              </a:rPr>
              <a:t>Low CAC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9224" y="4572000"/>
            <a:ext cx="299618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9A9688"/>
                </a:solidFill>
                <a:latin typeface="Calibri"/>
              </a:rPr>
              <a:t>Direct outbound + demo drives quick evaluation. Target CAC payback &lt; 3 months.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5E2DC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152144"/>
            <a:ext cx="5129784" cy="2377440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316736"/>
            <a:ext cx="4764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[ Name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1655064"/>
            <a:ext cx="4764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563EB"/>
                </a:solidFill>
                <a:latin typeface="Calibri"/>
              </a:rPr>
              <a:t>[ Role, e.g. Founder &amp; CEO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1956816"/>
            <a:ext cx="47640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555555"/>
                </a:solidFill>
                <a:latin typeface="Calibri"/>
              </a:rPr>
              <a:t>[ 2–3 sentences: background, domain credibility, why you're the right person to build this ]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152144"/>
            <a:ext cx="5129784" cy="2377440"/>
          </a:xfrm>
          <a:prstGeom prst="rect">
            <a:avLst/>
          </a:prstGeom>
          <a:solidFill>
            <a:srgbClr val="F7F5F0"/>
          </a:solidFill>
          <a:ln w="9525">
            <a:solidFill>
              <a:srgbClr val="E5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83096" y="1316736"/>
            <a:ext cx="4764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916"/>
                </a:solidFill>
                <a:latin typeface="Calibri"/>
              </a:rPr>
              <a:t>[ Name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1655064"/>
            <a:ext cx="47640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563EB"/>
                </a:solidFill>
                <a:latin typeface="Calibri"/>
              </a:rPr>
              <a:t>[ Role, e.g. Founder &amp; CEO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1956816"/>
            <a:ext cx="47640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555555"/>
                </a:solidFill>
                <a:latin typeface="Calibri"/>
              </a:rPr>
              <a:t>[ 2–3 sentences: background, domain credibility, why you're the right person to build this 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3758184"/>
            <a:ext cx="10671048" cy="658368"/>
          </a:xfrm>
          <a:prstGeom prst="rect">
            <a:avLst/>
          </a:prstGeom>
          <a:solidFill>
            <a:srgbClr val="FFFBEB"/>
          </a:solidFill>
          <a:ln w="635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849624"/>
            <a:ext cx="103967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92400E"/>
                </a:solidFill>
                <a:latin typeface="Calibri"/>
              </a:rPr>
              <a:t>Looking for:  Technical co-founder with embedded systems / industrial software / backend SaaS background. Strong interest in manufacturing &amp; Industry 4.0.  [ Remove or update this if you already have a technical co-founder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E5E2DC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9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9537"/>
            <a:ext cx="12188952" cy="484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603504"/>
            <a:ext cx="10671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A5FA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41248"/>
            <a:ext cx="96012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Seeking €[X] + programme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682496"/>
            <a:ext cx="7772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CCCCBB"/>
                </a:solidFill>
                <a:latin typeface="Calibri"/>
              </a:rPr>
              <a:t>We have a working product, a clear customer, and a large market. We need the network
and validation to close our first 3 paying pilots.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542032"/>
            <a:ext cx="3435096" cy="2029968"/>
          </a:xfrm>
          <a:prstGeom prst="rect">
            <a:avLst/>
          </a:prstGeom>
          <a:solidFill>
            <a:srgbClr val="262522"/>
          </a:solidFill>
          <a:ln w="6350">
            <a:solidFill>
              <a:srgbClr val="3A3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706624"/>
            <a:ext cx="3069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0A5FA"/>
                </a:solidFill>
                <a:latin typeface="Calibri"/>
              </a:rPr>
              <a:t>① Pilots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200400"/>
            <a:ext cx="3069336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999990"/>
                </a:solidFill>
                <a:latin typeface="Calibri"/>
              </a:rPr>
              <a:t>Onboard first 3 paying customers in DACH — travel, customisation support, dedicated onboarding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6928" y="2542032"/>
            <a:ext cx="3435096" cy="2029968"/>
          </a:xfrm>
          <a:prstGeom prst="rect">
            <a:avLst/>
          </a:prstGeom>
          <a:solidFill>
            <a:srgbClr val="262522"/>
          </a:solidFill>
          <a:ln w="6350">
            <a:solidFill>
              <a:srgbClr val="3A3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9808" y="2706624"/>
            <a:ext cx="3069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0A5FA"/>
                </a:solidFill>
                <a:latin typeface="Calibri"/>
              </a:rPr>
              <a:t>②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9808" y="3200400"/>
            <a:ext cx="3069336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999990"/>
                </a:solidFill>
                <a:latin typeface="Calibri"/>
              </a:rPr>
              <a:t>Hire or find technical co-founder. First engineering hire. Customer success capacity for pilots.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4904" y="2542032"/>
            <a:ext cx="3435096" cy="2029968"/>
          </a:xfrm>
          <a:prstGeom prst="rect">
            <a:avLst/>
          </a:prstGeom>
          <a:solidFill>
            <a:srgbClr val="262522"/>
          </a:solidFill>
          <a:ln w="6350">
            <a:solidFill>
              <a:srgbClr val="3A3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7784" y="2706624"/>
            <a:ext cx="30693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0A5FA"/>
                </a:solidFill>
                <a:latin typeface="Calibri"/>
              </a:rPr>
              <a:t>③ GTM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7784" y="3200400"/>
            <a:ext cx="3069336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999990"/>
                </a:solidFill>
                <a:latin typeface="Calibri"/>
              </a:rPr>
              <a:t>Trade show presence (Hannover Messe, SPS Nuremberg). Direct outbound tooling. DACH market entry.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5925312"/>
            <a:ext cx="1508760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9846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Book a Demo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60167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77770"/>
                </a:solidFill>
                <a:latin typeface="Calibri"/>
              </a:rPr>
              <a:t>hello@linepulse.com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601675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05048"/>
                </a:solidFill>
                <a:latin typeface="Calibri"/>
              </a:rPr>
              <a:t>[ Add why this specific accelerator matters to you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7472" y="6510528"/>
            <a:ext cx="2926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3A383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