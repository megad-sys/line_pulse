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7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● LINE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1CC"/>
                </a:solidFill>
              </a:rPr>
              <a:t>Accelerator application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</a:rPr>
              <a:t>Your factory floor, finally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D2D7DF"/>
                </a:solidFill>
              </a:rPr>
              <a:t>QR-based part tracking plus an AI production engineer for manufacturers that cannot wait months for 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288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61616"/>
                </a:solidFill>
              </a:rPr>
              <a:t>A lightweight visibility layer for high-mix production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563EB"/>
                </a:solidFill>
              </a:rPr>
              <a:t>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65C"/>
                </a:solidFill>
              </a:rPr>
              <a:t>new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F9D66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65C"/>
                </a:solidFill>
              </a:rPr>
              <a:t>afternoon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9A11B"/>
                </a:solidFill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65C"/>
                </a:solidFill>
              </a:rPr>
              <a:t>floor escalation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Factories lose margin in the space between ERP plan and shop-floor reality.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6B665C"/>
                </a:solidFill>
              </a:rPr>
              <a:t>Operators still use spreadsheets, paper travelers, and walk-the-floor checks. Problems become visible after they have already cost hours, scrap, and missed shipments.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97480"/>
            <a:ext cx="342290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057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563EB"/>
                </a:solidFill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3057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1616"/>
                </a:solidFill>
              </a:rPr>
              <a:t>still collect data manually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3057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B665C"/>
                </a:solidFill>
              </a:rPr>
              <a:t>Manual capture keeps live decisions away from frontline teams.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024" y="2697480"/>
            <a:ext cx="342290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5904" y="2743200"/>
            <a:ext cx="3057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94A38"/>
                </a:solidFill>
              </a:rPr>
              <a:t>$1.5T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904" y="3474720"/>
            <a:ext cx="3057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1616"/>
                </a:solidFill>
              </a:rPr>
              <a:t>annual downtime drag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886200"/>
            <a:ext cx="3057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B665C"/>
                </a:solidFill>
              </a:rPr>
              <a:t>Fortune Global 500 industrial companies, estimated 2024.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0248" y="2697480"/>
            <a:ext cx="342290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3128" y="2743200"/>
            <a:ext cx="3057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9A11B"/>
                </a:solidFill>
              </a:rPr>
              <a:t>1.9M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3128" y="3474720"/>
            <a:ext cx="3057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1616"/>
                </a:solidFill>
              </a:rPr>
              <a:t>US roles may go unfilled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886200"/>
            <a:ext cx="30571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B665C"/>
                </a:solidFill>
              </a:rPr>
              <a:t>Factories need tools that amplify existing teams.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65C"/>
                </a:solidFill>
              </a:rPr>
              <a:t>Sources: Manufacturing Leadership Council/NAM 2024; SMC/Senseye/Siemens 2024; Manufacturing Institute &amp; Deloitte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Smart manufacturing is working. Implementation is still too heavy.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6B665C"/>
                </a:solidFill>
              </a:rPr>
              <a:t>Line Pulse starts with the data foundation plants can adopt immediately: scans, live WIP, station history, and plain-language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97480"/>
            <a:ext cx="3422904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057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563EB"/>
                </a:solidFill>
              </a:rP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3057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1616"/>
                </a:solidFill>
              </a:rPr>
              <a:t>say smart manufacturing will drive competitiveness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3024" y="2697480"/>
            <a:ext cx="3422904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5904" y="2743200"/>
            <a:ext cx="3057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F9D66"/>
                </a:solidFill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3429000"/>
            <a:ext cx="3057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1616"/>
                </a:solidFill>
              </a:rPr>
              <a:t>allocate &gt;20% of improvement budget to smart mfg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0248" y="2697480"/>
            <a:ext cx="3422904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3128" y="2743200"/>
            <a:ext cx="3057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9A11B"/>
                </a:solidFill>
              </a:rPr>
              <a:t>29%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3128" y="3429000"/>
            <a:ext cx="3057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1616"/>
                </a:solidFill>
              </a:rPr>
              <a:t>use AI/ML at facility level — huge gap to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63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61616"/>
                </a:solidFill>
              </a:rPr>
              <a:t>10–20% production output increase
7–20% employee productivity gain
10–15% unlocked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6B665C"/>
                </a:solidFill>
              </a:rPr>
              <a:t>Reported impact from Deloitte 2025
Smart Manufacturing Survey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65C"/>
                </a:solidFill>
              </a:rPr>
              <a:t>Source: Deloitte 2025 Smart Manufacturing and Operations Survey, 600 manufacturing executives.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Line Pulse turns every scan into a live operating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6B665C"/>
                </a:solidFill>
              </a:rPr>
              <a:t>Workers scan QR codes at each station from a phone. Managers see WIP, cycle time, first-pass yield, DPMO, downtime, and planned-vs-produced — without installing equipment.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6B665C"/>
                </a:solidFill>
              </a:rPr>
              <a:t>The AI layer watches the last 24 hours of production data and returns numbered insights with actions: where the line is blocked, where QC is failing, and who should be notified.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486400"/>
            <a:ext cx="1417320" cy="384048"/>
          </a:xfrm>
          <a:prstGeom prst="rect">
            <a:avLst/>
          </a:prstGeom>
          <a:solidFill>
            <a:srgbClr val="17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13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QR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5486400"/>
            <a:ext cx="14173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5513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5486400"/>
            <a:ext cx="1417320" cy="384048"/>
          </a:xfrm>
          <a:prstGeom prst="rect">
            <a:avLst/>
          </a:prstGeom>
          <a:solidFill>
            <a:srgbClr val="1F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5513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escalation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94560"/>
            <a:ext cx="5943600" cy="4297680"/>
          </a:xfrm>
          <a:prstGeom prst="rect">
            <a:avLst/>
          </a:prstGeom>
          <a:solidFill>
            <a:srgbClr val="17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● Live Production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34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SMT Assembly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8346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5.2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D66"/>
                </a:solidFill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337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Visual Inspect.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3375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14.8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337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A11B"/>
                </a:solidFill>
              </a:rPr>
              <a:t>Bottleneck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840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Packaging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840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4.4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840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D66"/>
                </a:solidFill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Johnny says: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846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4A38"/>
                </a:solidFill>
              </a:rPr>
              <a:t>Critical: Visual Inspection is your bottleneck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257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A11B"/>
                </a:solidFill>
              </a:rPr>
              <a:t>Warning: Today target at risk: 211 vs 240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669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563EB"/>
                </a:solidFill>
              </a:rPr>
              <a:t>Action: Assign 2nd operator to inspection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A wedge simple enough for one line, extensible enough for the factory.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688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24985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24985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6B665C"/>
                </a:solidFill>
              </a:rPr>
              <a:t>Add production lines, station sequence, and target cycle minutes per station.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8718" y="2468880"/>
            <a:ext cx="685800" cy="685800"/>
          </a:xfrm>
          <a:prstGeom prst="rect">
            <a:avLst/>
          </a:prstGeom>
          <a:solidFill>
            <a:srgbClr val="1F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0158" y="25420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8718" y="3291840"/>
            <a:ext cx="24985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</a:rPr>
              <a:t>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8718" y="3840480"/>
            <a:ext cx="24985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6B665C"/>
                </a:solidFill>
              </a:rPr>
              <a:t>Create a batch and print QR labels on any office printer. No special hardware.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2468880"/>
            <a:ext cx="685800" cy="685800"/>
          </a:xfrm>
          <a:prstGeom prst="rect">
            <a:avLst/>
          </a:prstGeom>
          <a:solidFill>
            <a:srgbClr val="E9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25420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1636" y="3291840"/>
            <a:ext cx="24985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</a:rPr>
              <a:t>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636" y="3840480"/>
            <a:ext cx="24985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6B665C"/>
                </a:solidFill>
              </a:rPr>
              <a:t>Workers start, complete, fail QC, or scrap parts directly from a phone camera.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4554" y="2468880"/>
            <a:ext cx="685800" cy="685800"/>
          </a:xfrm>
          <a:prstGeom prst="rect">
            <a:avLst/>
          </a:prstGeom>
          <a:solidFill>
            <a:srgbClr val="D9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5994" y="25420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4554" y="3291840"/>
            <a:ext cx="24985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616"/>
                </a:solidFill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4554" y="3840480"/>
            <a:ext cx="24985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6B665C"/>
                </a:solidFill>
              </a:rPr>
              <a:t>Managers see KPI drift, bottlenecks, and AI-generated escalation guidance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BUSINESS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Start below MES. Expand into the operating layer of the plant.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68880"/>
            <a:ext cx="3422904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468880"/>
            <a:ext cx="34229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3057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Target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057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61616"/>
                </a:solidFill>
              </a:rPr>
              <a:t>High-mix SMB and mid-market manufacturers where supervisors reconcile WIP, QC, and throughput manually.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3024" y="2468880"/>
            <a:ext cx="3422904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2468880"/>
            <a:ext cx="3422904" cy="73152"/>
          </a:xfrm>
          <a:prstGeom prst="rect">
            <a:avLst/>
          </a:prstGeom>
          <a:solidFill>
            <a:srgbClr val="1F9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5904" y="2606040"/>
            <a:ext cx="3057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D66"/>
                </a:solidFill>
              </a:rPr>
              <a:t>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904" y="3017520"/>
            <a:ext cx="3057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61616"/>
                </a:solidFill>
              </a:rPr>
              <a:t>Free or low-friction pilot on one line: QR tracking, station dashboards, and daily bottleneck insights.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0248" y="2468880"/>
            <a:ext cx="3422904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0248" y="2468880"/>
            <a:ext cx="3422904" cy="73152"/>
          </a:xfrm>
          <a:prstGeom prst="rect">
            <a:avLst/>
          </a:prstGeom>
          <a:solidFill>
            <a:srgbClr val="D9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3128" y="2606040"/>
            <a:ext cx="3057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4A38"/>
                </a:solidFill>
              </a:rPr>
              <a:t>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3128" y="3017520"/>
            <a:ext cx="3057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61616"/>
                </a:solidFill>
              </a:rPr>
              <a:t>Per-line SaaS plus integrations: ERP sync, automated escalations, quality analytics, and AI production copilot.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65C"/>
                </a:solidFill>
              </a:rPr>
              <a:t>Note: pricing and traction figures are editable placeholders — fill in from your actual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EDIT: Replace this slide with real customer, pilot, or revenue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6B665C"/>
                </a:solidFill>
              </a:rPr>
              <a:t>→  [ First pilot customer name, industry, line count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6B665C"/>
                </a:solidFill>
              </a:rPr>
              <a:t>→  [ Revenue or LOI amount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600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6B665C"/>
                </a:solidFill>
              </a:rPr>
              <a:t>→  [ KPI improvement observed: cycle time, yield, downtime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6B665C"/>
                </a:solidFill>
              </a:rPr>
              <a:t>→  [ # of parts tracked / scans processed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6B665C"/>
                </a:solidFill>
              </a:rPr>
              <a:t>→  [ Team size / advisors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65C"/>
                </a:solidFill>
              </a:rPr>
              <a:t>Placeholder — add real traction metrics before submitting.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EDIT: Add founder names, roles, and relevant background.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1005840" cy="1005840"/>
          </a:xfrm>
          <a:prstGeom prst="rect">
            <a:avLst/>
          </a:prstGeom>
          <a:solidFill>
            <a:srgbClr val="DE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</a:rPr>
              <a:t>Founder /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880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65C"/>
                </a:solidFill>
              </a:rPr>
              <a:t>[ Name — background in manufacturing or software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566160"/>
            <a:ext cx="1005840" cy="1005840"/>
          </a:xfrm>
          <a:prstGeom prst="rect">
            <a:avLst/>
          </a:prstGeom>
          <a:solidFill>
            <a:srgbClr val="DE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</a:rPr>
              <a:t>Founder / 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65C"/>
                </a:solidFill>
              </a:rPr>
              <a:t>[ Name — engineering background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54880"/>
            <a:ext cx="1005840" cy="1005840"/>
          </a:xfrm>
          <a:prstGeom prst="rect">
            <a:avLst/>
          </a:prstGeom>
          <a:solidFill>
            <a:srgbClr val="DE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1616"/>
                </a:solidFill>
              </a:rPr>
              <a:t>Advisor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5257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65C"/>
                </a:solidFill>
              </a:rPr>
              <a:t>[ Name — manufacturing operations or SaaS go-to-market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65C"/>
                </a:solidFill>
              </a:rPr>
              <a:t>Placeholder — fill in real team info before submitting.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ACCELERATOR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What we need next: pilots, plant access, and sharp feedback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6B665C"/>
                </a:solidFill>
              </a:rPr>
              <a:t>The MVP already demonstrates the core loop: configure a line, scan parts, compute KPIs, generate AI insights, and escalate issues. An accelerator compresses the hardest part — getting into real factories and building repeatable deployment playbooks.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97680" cy="3657600"/>
          </a:xfrm>
          <a:prstGeom prst="rect">
            <a:avLst/>
          </a:prstGeom>
          <a:solidFill>
            <a:srgbClr val="17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423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CA3AF"/>
                </a:solidFill>
              </a:rPr>
              <a:t>Current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7432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</a:rPr>
              <a:t>3–5 pilot
manufacturers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840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9A11B"/>
                </a:solidFill>
              </a:rPr>
              <a:t>EDIT: add funding ask if raising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2976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1D5DB"/>
                </a:solidFill>
              </a:rPr>
              <a:t>Mentors for manufacturing sales, MES/ERP integration, and plant-floor workflow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1616"/>
                </a:solidFill>
              </a:rPr>
              <a:t>Evidence used in this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61616"/>
                </a:solidFill>
              </a:rPr>
              <a:t>Manufacturing Leadership Council / NAM, Data Mastery Survey 2024 — 70% manual data entry stat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90672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906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61616"/>
                </a:solidFill>
              </a:rPr>
              <a:t>SMC / Senseye / Siemens, The True Cost of Downtime 2024 — $1.5T annual downtime drag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803904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03904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61616"/>
                </a:solidFill>
              </a:rPr>
              <a:t>Deloitte, 2025 Smart Manufacturing and Operations Survey — 92%, 78%, 29% stats; output/productivity impact ranges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517136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17136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61616"/>
                </a:solidFill>
              </a:rPr>
              <a:t>The Manufacturing Institute and Deloitte, Workforce Study 2024 — 1.9M unfilled roles by 2033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230368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61616"/>
                </a:solidFill>
              </a:rPr>
              <a:t>U.S. Census Bureau, 2022 Economic Census — manufacturing establishment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